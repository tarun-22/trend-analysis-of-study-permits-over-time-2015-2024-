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18f276e67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18f276e67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18f276e67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18f276e67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18f276e67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18f276e67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18f276e67d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18f276e67d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18f276e67d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18f276e67d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18f276e67d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18f276e67d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18f276e67d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18f276e67d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18f276e67d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18f276e67d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18f276e67d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18f276e67d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18f276e67d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18f276e67d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1946e7f02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1946e7f02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1946e7f02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1946e7f02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open.canada.ca/data/en/dataset/90115b00-f9b8-49e8-afa3-b4cff8facaee?_gl=1*ylxiav*_ga*Nzg5MTQ4NzY2LjE3MzE1NDAwMzI.*_ga_S9JG8CZVYZ*MTczMTU0MDAzMi4xLjEuMTczMTU0MDA5Ny42MC4wLjA." TargetMode="External"/><Relationship Id="rId4" Type="http://schemas.openxmlformats.org/officeDocument/2006/relationships/hyperlink" Target="https://open.canada.ca/data/en/dataset/90115b00-f9b8-49e8-afa3-b4cff8facaee?_gl=1*ylxiav*_ga*Nzg5MTQ4NzY2LjE3MzE1NDAwMzI.*_ga_S9JG8CZVYZ*MTczMTU0MDAzMi4xLjEuMTczMTU0MDA5Ny42MC4wLjA." TargetMode="External"/><Relationship Id="rId5" Type="http://schemas.openxmlformats.org/officeDocument/2006/relationships/hyperlink" Target="https://open.canada.ca/en/open-government-licence-canada"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5.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title"/>
          </p:nvPr>
        </p:nvSpPr>
        <p:spPr>
          <a:xfrm>
            <a:off x="0" y="445025"/>
            <a:ext cx="9144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550"/>
              <a:t> </a:t>
            </a:r>
            <a:r>
              <a:rPr b="1" lang="en" sz="2550"/>
              <a:t>Topic: </a:t>
            </a:r>
            <a:r>
              <a:rPr b="1" lang="en" sz="2550"/>
              <a:t>Trend Analysis of Study Permits Over Time (2015-2024)</a:t>
            </a:r>
            <a:endParaRPr b="1" sz="2550"/>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55" name="Google Shape;55;p13"/>
          <p:cNvSpPr txBox="1"/>
          <p:nvPr>
            <p:ph idx="1" type="body"/>
          </p:nvPr>
        </p:nvSpPr>
        <p:spPr>
          <a:xfrm>
            <a:off x="311700" y="1085100"/>
            <a:ext cx="8520600" cy="33537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t/>
            </a:r>
            <a:endParaRPr>
              <a:solidFill>
                <a:schemeClr val="dk1"/>
              </a:solidFill>
            </a:endParaRPr>
          </a:p>
          <a:p>
            <a:pPr indent="0" lvl="0" marL="0" rtl="0" algn="ctr">
              <a:lnSpc>
                <a:spcPct val="100000"/>
              </a:lnSpc>
              <a:spcBef>
                <a:spcPts val="0"/>
              </a:spcBef>
              <a:spcAft>
                <a:spcPts val="0"/>
              </a:spcAft>
              <a:buNone/>
            </a:pPr>
            <a:r>
              <a:rPr b="1" lang="en" sz="2600">
                <a:solidFill>
                  <a:schemeClr val="dk1"/>
                </a:solidFill>
              </a:rPr>
              <a:t>GROUP 5</a:t>
            </a:r>
            <a:br>
              <a:rPr b="1" lang="en" sz="2600">
                <a:solidFill>
                  <a:schemeClr val="dk1"/>
                </a:solidFill>
              </a:rPr>
            </a:br>
            <a:endParaRPr b="1" sz="2600">
              <a:solidFill>
                <a:schemeClr val="dk1"/>
              </a:solidFill>
            </a:endParaRPr>
          </a:p>
          <a:p>
            <a:pPr indent="457200" lvl="0" marL="2743200" rtl="0" algn="l">
              <a:lnSpc>
                <a:spcPct val="100000"/>
              </a:lnSpc>
              <a:spcBef>
                <a:spcPts val="0"/>
              </a:spcBef>
              <a:spcAft>
                <a:spcPts val="0"/>
              </a:spcAft>
              <a:buClr>
                <a:schemeClr val="dk1"/>
              </a:buClr>
              <a:buSzPts val="1100"/>
              <a:buFont typeface="Arial"/>
              <a:buNone/>
            </a:pPr>
            <a:r>
              <a:rPr b="1" lang="en" sz="2600">
                <a:solidFill>
                  <a:schemeClr val="dk1"/>
                </a:solidFill>
              </a:rPr>
              <a:t>Akwesi Kusi</a:t>
            </a:r>
            <a:endParaRPr b="1" sz="2600">
              <a:solidFill>
                <a:schemeClr val="dk1"/>
              </a:solidFill>
            </a:endParaRPr>
          </a:p>
          <a:p>
            <a:pPr indent="457200" lvl="0" marL="2743200" rtl="0" algn="l">
              <a:lnSpc>
                <a:spcPct val="100000"/>
              </a:lnSpc>
              <a:spcBef>
                <a:spcPts val="0"/>
              </a:spcBef>
              <a:spcAft>
                <a:spcPts val="0"/>
              </a:spcAft>
              <a:buClr>
                <a:schemeClr val="dk1"/>
              </a:buClr>
              <a:buSzPts val="1100"/>
              <a:buFont typeface="Arial"/>
              <a:buNone/>
            </a:pPr>
            <a:r>
              <a:rPr b="1" lang="en" sz="2600">
                <a:solidFill>
                  <a:schemeClr val="dk1"/>
                </a:solidFill>
              </a:rPr>
              <a:t>Dylan Coelho</a:t>
            </a:r>
            <a:endParaRPr b="1" sz="2600">
              <a:solidFill>
                <a:schemeClr val="dk1"/>
              </a:solidFill>
            </a:endParaRPr>
          </a:p>
          <a:p>
            <a:pPr indent="0" lvl="0" marL="3200400" rtl="0" algn="l">
              <a:lnSpc>
                <a:spcPct val="100000"/>
              </a:lnSpc>
              <a:spcBef>
                <a:spcPts val="0"/>
              </a:spcBef>
              <a:spcAft>
                <a:spcPts val="0"/>
              </a:spcAft>
              <a:buClr>
                <a:schemeClr val="dk1"/>
              </a:buClr>
              <a:buSzPts val="1100"/>
              <a:buFont typeface="Arial"/>
              <a:buNone/>
            </a:pPr>
            <a:r>
              <a:rPr b="1" lang="en" sz="2600">
                <a:solidFill>
                  <a:schemeClr val="dk1"/>
                </a:solidFill>
              </a:rPr>
              <a:t>Ranjit Odedra</a:t>
            </a:r>
            <a:endParaRPr b="1" sz="2600">
              <a:solidFill>
                <a:schemeClr val="dk1"/>
              </a:solidFill>
            </a:endParaRPr>
          </a:p>
          <a:p>
            <a:pPr indent="457200" lvl="0" marL="2743200" rtl="0" algn="l">
              <a:lnSpc>
                <a:spcPct val="100000"/>
              </a:lnSpc>
              <a:spcBef>
                <a:spcPts val="0"/>
              </a:spcBef>
              <a:spcAft>
                <a:spcPts val="0"/>
              </a:spcAft>
              <a:buClr>
                <a:schemeClr val="dk1"/>
              </a:buClr>
              <a:buSzPts val="1100"/>
              <a:buFont typeface="Arial"/>
              <a:buNone/>
            </a:pPr>
            <a:r>
              <a:rPr b="1" lang="en" sz="2600">
                <a:solidFill>
                  <a:schemeClr val="dk1"/>
                </a:solidFill>
              </a:rPr>
              <a:t>Tarun Kumar	</a:t>
            </a:r>
            <a:endParaRPr b="1" sz="2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sz="2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sz="2600">
              <a:solidFill>
                <a:schemeClr val="dk1"/>
              </a:solidFill>
            </a:endParaRPr>
          </a:p>
          <a:p>
            <a:pPr indent="0" lvl="0" marL="0" rtl="0" algn="l">
              <a:spcBef>
                <a:spcPts val="0"/>
              </a:spcBef>
              <a:spcAft>
                <a:spcPts val="1200"/>
              </a:spcAft>
              <a:buNone/>
            </a:pPr>
            <a:r>
              <a:t/>
            </a:r>
            <a:endParaRPr>
              <a:solidFill>
                <a:schemeClr val="dk1"/>
              </a:solidFill>
            </a:endParaRPr>
          </a:p>
        </p:txBody>
      </p:sp>
      <p:sp>
        <p:nvSpPr>
          <p:cNvPr id="56" name="Google Shape;56;p13"/>
          <p:cNvSpPr txBox="1"/>
          <p:nvPr/>
        </p:nvSpPr>
        <p:spPr>
          <a:xfrm>
            <a:off x="393125" y="4506175"/>
            <a:ext cx="7453500" cy="3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242975" y="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INTRODUCTION</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The Trend Analysis of Study Permits Over Time (2015–2024) aims to uncover insights into the evolving patterns of international student mobility, providing actionable intelligence for stakeholders in education, government, and recruitment. This project leverages data-driven insights to address critical questions and inform strategies for future growth and decision-making.</a:t>
            </a:r>
            <a:br>
              <a:rPr lang="en">
                <a:solidFill>
                  <a:schemeClr val="dk1"/>
                </a:solidFill>
              </a:rPr>
            </a:br>
            <a:br>
              <a:rPr lang="en">
                <a:solidFill>
                  <a:schemeClr val="dk1"/>
                </a:solidFill>
              </a:rPr>
            </a:br>
            <a:r>
              <a:rPr lang="en">
                <a:solidFill>
                  <a:schemeClr val="dk1"/>
                </a:solidFill>
              </a:rPr>
              <a:t>Objective: </a:t>
            </a:r>
            <a:r>
              <a:rPr lang="en">
                <a:solidFill>
                  <a:schemeClr val="dk1"/>
                </a:solidFill>
              </a:rPr>
              <a:t>Empower stakeholders with data-driven strategies to adapt to evolving trends and maximize opportunities.</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272425" y="72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DATASET OVERVIEW</a:t>
            </a:r>
            <a:endParaRPr/>
          </a:p>
        </p:txBody>
      </p:sp>
      <p:sp>
        <p:nvSpPr>
          <p:cNvPr id="68" name="Google Shape;68;p15"/>
          <p:cNvSpPr txBox="1"/>
          <p:nvPr>
            <p:ph idx="1" type="body"/>
          </p:nvPr>
        </p:nvSpPr>
        <p:spPr>
          <a:xfrm>
            <a:off x="311700" y="1152475"/>
            <a:ext cx="8520600" cy="3850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u="sng">
                <a:solidFill>
                  <a:schemeClr val="hlink"/>
                </a:solidFill>
                <a:hlinkClick r:id="rId3"/>
              </a:rPr>
              <a:t>Data Source: </a:t>
            </a:r>
            <a:r>
              <a:rPr lang="en" u="sng">
                <a:solidFill>
                  <a:schemeClr val="hlink"/>
                </a:solidFill>
                <a:hlinkClick r:id="rId4"/>
              </a:rPr>
              <a:t>Temporary Residents: Study Permit Holders – Monthly IRCC Updates</a:t>
            </a:r>
            <a:endParaRPr>
              <a:solidFill>
                <a:schemeClr val="dk1"/>
              </a:solidFill>
            </a:endParaRPr>
          </a:p>
          <a:p>
            <a:pPr indent="0" lvl="0" marL="0" rtl="0" algn="l">
              <a:spcBef>
                <a:spcPts val="1200"/>
              </a:spcBef>
              <a:spcAft>
                <a:spcPts val="0"/>
              </a:spcAft>
              <a:buNone/>
            </a:pPr>
            <a:r>
              <a:rPr lang="en">
                <a:solidFill>
                  <a:schemeClr val="dk1"/>
                </a:solidFill>
              </a:rPr>
              <a:t>Info: Temporary residents who are in Canada on a study permit in the observed calendar year. Datasets include study permit holders by year in which permit(s) became effective or with a valid permit in a calendar year or on December 31st.</a:t>
            </a:r>
            <a:endParaRPr>
              <a:solidFill>
                <a:schemeClr val="dk1"/>
              </a:solidFill>
            </a:endParaRPr>
          </a:p>
          <a:p>
            <a:pPr indent="0" lvl="0" marL="0" rtl="0" algn="l">
              <a:spcBef>
                <a:spcPts val="1200"/>
              </a:spcBef>
              <a:spcAft>
                <a:spcPts val="0"/>
              </a:spcAft>
              <a:buNone/>
            </a:pPr>
            <a:br>
              <a:rPr lang="en">
                <a:solidFill>
                  <a:schemeClr val="dk1"/>
                </a:solidFill>
              </a:rPr>
            </a:br>
            <a:r>
              <a:rPr lang="en">
                <a:solidFill>
                  <a:schemeClr val="dk1"/>
                </a:solidFill>
              </a:rPr>
              <a:t>Note: Values between 0 and 5 are shown as “--“ and all other values are rounded to the nearest multiple of 5. </a:t>
            </a:r>
            <a:br>
              <a:rPr lang="en">
                <a:solidFill>
                  <a:schemeClr val="dk1"/>
                </a:solidFill>
              </a:rPr>
            </a:br>
            <a:br>
              <a:rPr lang="en">
                <a:solidFill>
                  <a:schemeClr val="dk1"/>
                </a:solidFill>
              </a:rPr>
            </a:br>
            <a:r>
              <a:rPr lang="en">
                <a:solidFill>
                  <a:schemeClr val="dk1"/>
                </a:solidFill>
              </a:rPr>
              <a:t>Publisher - Current Organization Name: Immigration, Refugees and Citizenship Canada</a:t>
            </a:r>
            <a:endParaRPr>
              <a:solidFill>
                <a:schemeClr val="dk1"/>
              </a:solidFill>
            </a:endParaRPr>
          </a:p>
          <a:p>
            <a:pPr indent="0" lvl="0" marL="0" rtl="0" algn="l">
              <a:spcBef>
                <a:spcPts val="1200"/>
              </a:spcBef>
              <a:spcAft>
                <a:spcPts val="1200"/>
              </a:spcAft>
              <a:buNone/>
            </a:pPr>
            <a:r>
              <a:rPr lang="en">
                <a:solidFill>
                  <a:schemeClr val="dk1"/>
                </a:solidFill>
              </a:rPr>
              <a:t>Licence: </a:t>
            </a:r>
            <a:r>
              <a:rPr lang="en" u="sng">
                <a:solidFill>
                  <a:schemeClr val="hlink"/>
                </a:solidFill>
                <a:hlinkClick r:id="rId5"/>
              </a:rPr>
              <a:t>Open Government Licence - Canada</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125"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DATA PREPROCESSING</a:t>
            </a:r>
            <a:endParaRPr/>
          </a:p>
        </p:txBody>
      </p:sp>
      <p:sp>
        <p:nvSpPr>
          <p:cNvPr id="74" name="Google Shape;74;p16"/>
          <p:cNvSpPr txBox="1"/>
          <p:nvPr/>
        </p:nvSpPr>
        <p:spPr>
          <a:xfrm>
            <a:off x="20725" y="502800"/>
            <a:ext cx="9144000" cy="61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UNSTACKED DATA</a:t>
            </a:r>
            <a:endParaRPr sz="1800">
              <a:solidFill>
                <a:schemeClr val="dk1"/>
              </a:solidFill>
            </a:endParaRPr>
          </a:p>
        </p:txBody>
      </p:sp>
      <p:pic>
        <p:nvPicPr>
          <p:cNvPr id="75" name="Google Shape;75;p16"/>
          <p:cNvPicPr preferRelativeResize="0"/>
          <p:nvPr/>
        </p:nvPicPr>
        <p:blipFill>
          <a:blip r:embed="rId3">
            <a:alphaModFix/>
          </a:blip>
          <a:stretch>
            <a:fillRect/>
          </a:stretch>
        </p:blipFill>
        <p:spPr>
          <a:xfrm>
            <a:off x="311700" y="1152475"/>
            <a:ext cx="8520601" cy="37183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125"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DATA PREPROCESSING</a:t>
            </a:r>
            <a:endParaRPr/>
          </a:p>
        </p:txBody>
      </p:sp>
      <p:sp>
        <p:nvSpPr>
          <p:cNvPr id="81" name="Google Shape;81;p17"/>
          <p:cNvSpPr txBox="1"/>
          <p:nvPr/>
        </p:nvSpPr>
        <p:spPr>
          <a:xfrm>
            <a:off x="20725" y="502800"/>
            <a:ext cx="9144000" cy="61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STACKED DATA</a:t>
            </a:r>
            <a:endParaRPr sz="1800">
              <a:solidFill>
                <a:schemeClr val="dk1"/>
              </a:solidFill>
            </a:endParaRPr>
          </a:p>
        </p:txBody>
      </p:sp>
      <p:pic>
        <p:nvPicPr>
          <p:cNvPr id="82" name="Google Shape;82;p17"/>
          <p:cNvPicPr preferRelativeResize="0"/>
          <p:nvPr/>
        </p:nvPicPr>
        <p:blipFill>
          <a:blip r:embed="rId3">
            <a:alphaModFix/>
          </a:blip>
          <a:stretch>
            <a:fillRect/>
          </a:stretch>
        </p:blipFill>
        <p:spPr>
          <a:xfrm>
            <a:off x="152400" y="1121100"/>
            <a:ext cx="8839200" cy="33505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125"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Exploratory Data Analysis (EDA)</a:t>
            </a:r>
            <a:endParaRPr/>
          </a:p>
        </p:txBody>
      </p:sp>
      <p:sp>
        <p:nvSpPr>
          <p:cNvPr id="88" name="Google Shape;88;p18"/>
          <p:cNvSpPr txBox="1"/>
          <p:nvPr/>
        </p:nvSpPr>
        <p:spPr>
          <a:xfrm>
            <a:off x="20725" y="502800"/>
            <a:ext cx="9144000" cy="61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STATISTICAL</a:t>
            </a:r>
            <a:endParaRPr sz="1800">
              <a:solidFill>
                <a:schemeClr val="dk1"/>
              </a:solidFill>
            </a:endParaRPr>
          </a:p>
        </p:txBody>
      </p:sp>
      <p:pic>
        <p:nvPicPr>
          <p:cNvPr id="89" name="Google Shape;89;p18"/>
          <p:cNvPicPr preferRelativeResize="0"/>
          <p:nvPr/>
        </p:nvPicPr>
        <p:blipFill>
          <a:blip r:embed="rId3">
            <a:alphaModFix/>
          </a:blip>
          <a:stretch>
            <a:fillRect/>
          </a:stretch>
        </p:blipFill>
        <p:spPr>
          <a:xfrm>
            <a:off x="152400" y="1273500"/>
            <a:ext cx="4419600" cy="2752725"/>
          </a:xfrm>
          <a:prstGeom prst="rect">
            <a:avLst/>
          </a:prstGeom>
          <a:noFill/>
          <a:ln cap="flat" cmpd="sng" w="9525">
            <a:solidFill>
              <a:schemeClr val="dk1"/>
            </a:solidFill>
            <a:prstDash val="solid"/>
            <a:round/>
            <a:headEnd len="sm" w="sm" type="none"/>
            <a:tailEnd len="sm" w="sm" type="none"/>
          </a:ln>
        </p:spPr>
      </p:pic>
      <p:pic>
        <p:nvPicPr>
          <p:cNvPr id="90" name="Google Shape;90;p18"/>
          <p:cNvPicPr preferRelativeResize="0"/>
          <p:nvPr/>
        </p:nvPicPr>
        <p:blipFill>
          <a:blip r:embed="rId4">
            <a:alphaModFix/>
          </a:blip>
          <a:stretch>
            <a:fillRect/>
          </a:stretch>
        </p:blipFill>
        <p:spPr>
          <a:xfrm>
            <a:off x="4724400" y="1273500"/>
            <a:ext cx="4267200" cy="275272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125"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Exploratory Data Analysis (EDA)</a:t>
            </a:r>
            <a:endParaRPr/>
          </a:p>
        </p:txBody>
      </p:sp>
      <p:sp>
        <p:nvSpPr>
          <p:cNvPr id="96" name="Google Shape;96;p19"/>
          <p:cNvSpPr txBox="1"/>
          <p:nvPr/>
        </p:nvSpPr>
        <p:spPr>
          <a:xfrm>
            <a:off x="20725" y="502800"/>
            <a:ext cx="9144000" cy="61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VISUALIZATION</a:t>
            </a:r>
            <a:endParaRPr sz="1800">
              <a:solidFill>
                <a:schemeClr val="dk1"/>
              </a:solidFill>
            </a:endParaRPr>
          </a:p>
        </p:txBody>
      </p:sp>
      <p:sp>
        <p:nvSpPr>
          <p:cNvPr id="97" name="Google Shape;97;p19"/>
          <p:cNvSpPr txBox="1"/>
          <p:nvPr/>
        </p:nvSpPr>
        <p:spPr>
          <a:xfrm>
            <a:off x="20725" y="924875"/>
            <a:ext cx="3445500" cy="4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dk1"/>
                </a:solidFill>
              </a:rPr>
              <a:t>LINE CHART (TIME-SERIES)</a:t>
            </a:r>
            <a:endParaRPr sz="1800" u="sng">
              <a:solidFill>
                <a:schemeClr val="dk1"/>
              </a:solidFill>
            </a:endParaRPr>
          </a:p>
        </p:txBody>
      </p:sp>
      <p:sp>
        <p:nvSpPr>
          <p:cNvPr id="98" name="Google Shape;98;p19"/>
          <p:cNvSpPr txBox="1"/>
          <p:nvPr/>
        </p:nvSpPr>
        <p:spPr>
          <a:xfrm>
            <a:off x="20725" y="1307700"/>
            <a:ext cx="9144000" cy="35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rPr>
              <a:t>How do values (e.g., totals for specific quarters of 2015 for India) change over different quarters or years ?</a:t>
            </a:r>
            <a:endParaRPr sz="1500">
              <a:solidFill>
                <a:schemeClr val="dk1"/>
              </a:solidFill>
            </a:endParaRPr>
          </a:p>
        </p:txBody>
      </p:sp>
      <p:pic>
        <p:nvPicPr>
          <p:cNvPr id="99" name="Google Shape;99;p19"/>
          <p:cNvPicPr preferRelativeResize="0"/>
          <p:nvPr/>
        </p:nvPicPr>
        <p:blipFill>
          <a:blip r:embed="rId3">
            <a:alphaModFix/>
          </a:blip>
          <a:stretch>
            <a:fillRect/>
          </a:stretch>
        </p:blipFill>
        <p:spPr>
          <a:xfrm>
            <a:off x="152400" y="1813500"/>
            <a:ext cx="3009400" cy="3177601"/>
          </a:xfrm>
          <a:prstGeom prst="rect">
            <a:avLst/>
          </a:prstGeom>
          <a:noFill/>
          <a:ln cap="flat" cmpd="sng" w="9525">
            <a:solidFill>
              <a:schemeClr val="dk1"/>
            </a:solidFill>
            <a:prstDash val="solid"/>
            <a:round/>
            <a:headEnd len="sm" w="sm" type="none"/>
            <a:tailEnd len="sm" w="sm" type="none"/>
          </a:ln>
        </p:spPr>
      </p:pic>
      <p:pic>
        <p:nvPicPr>
          <p:cNvPr id="100" name="Google Shape;100;p19"/>
          <p:cNvPicPr preferRelativeResize="0"/>
          <p:nvPr/>
        </p:nvPicPr>
        <p:blipFill>
          <a:blip r:embed="rId4">
            <a:alphaModFix/>
          </a:blip>
          <a:stretch>
            <a:fillRect/>
          </a:stretch>
        </p:blipFill>
        <p:spPr>
          <a:xfrm>
            <a:off x="3254175" y="1813500"/>
            <a:ext cx="2769562" cy="3177599"/>
          </a:xfrm>
          <a:prstGeom prst="rect">
            <a:avLst/>
          </a:prstGeom>
          <a:noFill/>
          <a:ln cap="flat" cmpd="sng" w="9525">
            <a:solidFill>
              <a:schemeClr val="dk1"/>
            </a:solidFill>
            <a:prstDash val="solid"/>
            <a:round/>
            <a:headEnd len="sm" w="sm" type="none"/>
            <a:tailEnd len="sm" w="sm" type="none"/>
          </a:ln>
        </p:spPr>
      </p:pic>
      <p:pic>
        <p:nvPicPr>
          <p:cNvPr id="101" name="Google Shape;101;p19"/>
          <p:cNvPicPr preferRelativeResize="0"/>
          <p:nvPr/>
        </p:nvPicPr>
        <p:blipFill>
          <a:blip r:embed="rId5">
            <a:alphaModFix/>
          </a:blip>
          <a:stretch>
            <a:fillRect/>
          </a:stretch>
        </p:blipFill>
        <p:spPr>
          <a:xfrm>
            <a:off x="6121650" y="1813500"/>
            <a:ext cx="2869951" cy="3177599"/>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125"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Exploratory Data Analysis (EDA)</a:t>
            </a:r>
            <a:endParaRPr/>
          </a:p>
        </p:txBody>
      </p:sp>
      <p:sp>
        <p:nvSpPr>
          <p:cNvPr id="107" name="Google Shape;107;p20"/>
          <p:cNvSpPr txBox="1"/>
          <p:nvPr/>
        </p:nvSpPr>
        <p:spPr>
          <a:xfrm>
            <a:off x="20725" y="502800"/>
            <a:ext cx="9144000" cy="61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VISUALIZATION</a:t>
            </a:r>
            <a:endParaRPr sz="1800">
              <a:solidFill>
                <a:schemeClr val="dk1"/>
              </a:solidFill>
            </a:endParaRPr>
          </a:p>
        </p:txBody>
      </p:sp>
      <p:sp>
        <p:nvSpPr>
          <p:cNvPr id="108" name="Google Shape;108;p20"/>
          <p:cNvSpPr txBox="1"/>
          <p:nvPr/>
        </p:nvSpPr>
        <p:spPr>
          <a:xfrm>
            <a:off x="20725" y="924875"/>
            <a:ext cx="3445500" cy="4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dk1"/>
                </a:solidFill>
              </a:rPr>
              <a:t>BAR </a:t>
            </a:r>
            <a:r>
              <a:rPr lang="en" sz="1800" u="sng">
                <a:solidFill>
                  <a:schemeClr val="dk1"/>
                </a:solidFill>
              </a:rPr>
              <a:t>CHART</a:t>
            </a:r>
            <a:endParaRPr sz="1800" u="sng">
              <a:solidFill>
                <a:schemeClr val="dk1"/>
              </a:solidFill>
            </a:endParaRPr>
          </a:p>
        </p:txBody>
      </p:sp>
      <p:sp>
        <p:nvSpPr>
          <p:cNvPr id="109" name="Google Shape;109;p20"/>
          <p:cNvSpPr txBox="1"/>
          <p:nvPr/>
        </p:nvSpPr>
        <p:spPr>
          <a:xfrm>
            <a:off x="20725" y="1307700"/>
            <a:ext cx="9144000" cy="35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How do Permits </a:t>
            </a:r>
            <a:r>
              <a:rPr lang="en">
                <a:solidFill>
                  <a:schemeClr val="dk1"/>
                </a:solidFill>
              </a:rPr>
              <a:t>issued</a:t>
            </a:r>
            <a:r>
              <a:rPr lang="en">
                <a:solidFill>
                  <a:schemeClr val="dk1"/>
                </a:solidFill>
              </a:rPr>
              <a:t> (e.g., totals for specific quarters of 2020 for Australia) change over different quarters?</a:t>
            </a:r>
            <a:endParaRPr>
              <a:solidFill>
                <a:schemeClr val="dk1"/>
              </a:solidFill>
            </a:endParaRPr>
          </a:p>
        </p:txBody>
      </p:sp>
      <p:pic>
        <p:nvPicPr>
          <p:cNvPr id="110" name="Google Shape;110;p20"/>
          <p:cNvPicPr preferRelativeResize="0"/>
          <p:nvPr/>
        </p:nvPicPr>
        <p:blipFill>
          <a:blip r:embed="rId3">
            <a:alphaModFix/>
          </a:blip>
          <a:stretch>
            <a:fillRect/>
          </a:stretch>
        </p:blipFill>
        <p:spPr>
          <a:xfrm>
            <a:off x="3077324" y="1813500"/>
            <a:ext cx="2739155" cy="3177600"/>
          </a:xfrm>
          <a:prstGeom prst="rect">
            <a:avLst/>
          </a:prstGeom>
          <a:noFill/>
          <a:ln cap="flat" cmpd="sng" w="9525">
            <a:solidFill>
              <a:schemeClr val="dk1"/>
            </a:solidFill>
            <a:prstDash val="solid"/>
            <a:round/>
            <a:headEnd len="sm" w="sm" type="none"/>
            <a:tailEnd len="sm" w="sm" type="none"/>
          </a:ln>
        </p:spPr>
      </p:pic>
      <p:pic>
        <p:nvPicPr>
          <p:cNvPr id="111" name="Google Shape;111;p20"/>
          <p:cNvPicPr preferRelativeResize="0"/>
          <p:nvPr/>
        </p:nvPicPr>
        <p:blipFill>
          <a:blip r:embed="rId4">
            <a:alphaModFix/>
          </a:blip>
          <a:stretch>
            <a:fillRect/>
          </a:stretch>
        </p:blipFill>
        <p:spPr>
          <a:xfrm>
            <a:off x="5968878" y="1813500"/>
            <a:ext cx="2711492" cy="3177600"/>
          </a:xfrm>
          <a:prstGeom prst="rect">
            <a:avLst/>
          </a:prstGeom>
          <a:noFill/>
          <a:ln cap="flat" cmpd="sng" w="9525">
            <a:solidFill>
              <a:schemeClr val="dk1"/>
            </a:solidFill>
            <a:prstDash val="solid"/>
            <a:round/>
            <a:headEnd len="sm" w="sm" type="none"/>
            <a:tailEnd len="sm" w="sm" type="none"/>
          </a:ln>
        </p:spPr>
      </p:pic>
      <p:pic>
        <p:nvPicPr>
          <p:cNvPr id="112" name="Google Shape;112;p20"/>
          <p:cNvPicPr preferRelativeResize="0"/>
          <p:nvPr/>
        </p:nvPicPr>
        <p:blipFill>
          <a:blip r:embed="rId5">
            <a:alphaModFix/>
          </a:blip>
          <a:stretch>
            <a:fillRect/>
          </a:stretch>
        </p:blipFill>
        <p:spPr>
          <a:xfrm>
            <a:off x="152400" y="1813500"/>
            <a:ext cx="2746969" cy="317760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125"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Exploratory Data Analysis (EDA)</a:t>
            </a:r>
            <a:endParaRPr/>
          </a:p>
        </p:txBody>
      </p:sp>
      <p:sp>
        <p:nvSpPr>
          <p:cNvPr id="118" name="Google Shape;118;p21"/>
          <p:cNvSpPr txBox="1"/>
          <p:nvPr/>
        </p:nvSpPr>
        <p:spPr>
          <a:xfrm>
            <a:off x="20725" y="502800"/>
            <a:ext cx="9144000" cy="61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VISUALIZATION</a:t>
            </a:r>
            <a:endParaRPr sz="1800">
              <a:solidFill>
                <a:schemeClr val="dk1"/>
              </a:solidFill>
            </a:endParaRPr>
          </a:p>
        </p:txBody>
      </p:sp>
      <p:sp>
        <p:nvSpPr>
          <p:cNvPr id="119" name="Google Shape;119;p21"/>
          <p:cNvSpPr txBox="1"/>
          <p:nvPr/>
        </p:nvSpPr>
        <p:spPr>
          <a:xfrm>
            <a:off x="20725" y="924875"/>
            <a:ext cx="3445500" cy="4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dk1"/>
                </a:solidFill>
              </a:rPr>
              <a:t>PIE </a:t>
            </a:r>
            <a:r>
              <a:rPr lang="en" sz="1800" u="sng">
                <a:solidFill>
                  <a:schemeClr val="dk1"/>
                </a:solidFill>
              </a:rPr>
              <a:t>CHART</a:t>
            </a:r>
            <a:endParaRPr sz="1800" u="sng">
              <a:solidFill>
                <a:schemeClr val="dk1"/>
              </a:solidFill>
            </a:endParaRPr>
          </a:p>
        </p:txBody>
      </p:sp>
      <p:sp>
        <p:nvSpPr>
          <p:cNvPr id="120" name="Google Shape;120;p21"/>
          <p:cNvSpPr txBox="1"/>
          <p:nvPr/>
        </p:nvSpPr>
        <p:spPr>
          <a:xfrm>
            <a:off x="20725" y="1307700"/>
            <a:ext cx="9144000" cy="35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How does the total  permit issued for a specific quarter (e.g., Q1) compare across different years for selected countries</a:t>
            </a:r>
            <a:endParaRPr>
              <a:solidFill>
                <a:schemeClr val="dk1"/>
              </a:solidFill>
            </a:endParaRPr>
          </a:p>
        </p:txBody>
      </p:sp>
      <p:pic>
        <p:nvPicPr>
          <p:cNvPr id="121" name="Google Shape;121;p21"/>
          <p:cNvPicPr preferRelativeResize="0"/>
          <p:nvPr/>
        </p:nvPicPr>
        <p:blipFill>
          <a:blip r:embed="rId3">
            <a:alphaModFix/>
          </a:blip>
          <a:stretch>
            <a:fillRect/>
          </a:stretch>
        </p:blipFill>
        <p:spPr>
          <a:xfrm>
            <a:off x="152400" y="1813500"/>
            <a:ext cx="2173142" cy="3177599"/>
          </a:xfrm>
          <a:prstGeom prst="rect">
            <a:avLst/>
          </a:prstGeom>
          <a:noFill/>
          <a:ln cap="flat" cmpd="sng" w="9525">
            <a:solidFill>
              <a:schemeClr val="dk1"/>
            </a:solidFill>
            <a:prstDash val="solid"/>
            <a:round/>
            <a:headEnd len="sm" w="sm" type="none"/>
            <a:tailEnd len="sm" w="sm" type="none"/>
          </a:ln>
        </p:spPr>
      </p:pic>
      <p:pic>
        <p:nvPicPr>
          <p:cNvPr id="122" name="Google Shape;122;p21"/>
          <p:cNvPicPr preferRelativeResize="0"/>
          <p:nvPr/>
        </p:nvPicPr>
        <p:blipFill>
          <a:blip r:embed="rId4">
            <a:alphaModFix/>
          </a:blip>
          <a:stretch>
            <a:fillRect/>
          </a:stretch>
        </p:blipFill>
        <p:spPr>
          <a:xfrm>
            <a:off x="2477943" y="1813500"/>
            <a:ext cx="2124780" cy="3177599"/>
          </a:xfrm>
          <a:prstGeom prst="rect">
            <a:avLst/>
          </a:prstGeom>
          <a:noFill/>
          <a:ln cap="flat" cmpd="sng" w="9525">
            <a:solidFill>
              <a:schemeClr val="dk1"/>
            </a:solidFill>
            <a:prstDash val="solid"/>
            <a:round/>
            <a:headEnd len="sm" w="sm" type="none"/>
            <a:tailEnd len="sm" w="sm" type="none"/>
          </a:ln>
        </p:spPr>
      </p:pic>
      <p:pic>
        <p:nvPicPr>
          <p:cNvPr id="123" name="Google Shape;123;p21"/>
          <p:cNvPicPr preferRelativeResize="0"/>
          <p:nvPr/>
        </p:nvPicPr>
        <p:blipFill>
          <a:blip r:embed="rId5">
            <a:alphaModFix/>
          </a:blip>
          <a:stretch>
            <a:fillRect/>
          </a:stretch>
        </p:blipFill>
        <p:spPr>
          <a:xfrm>
            <a:off x="4755123" y="1813500"/>
            <a:ext cx="2087174" cy="3177600"/>
          </a:xfrm>
          <a:prstGeom prst="rect">
            <a:avLst/>
          </a:prstGeom>
          <a:noFill/>
          <a:ln cap="flat" cmpd="sng" w="9525">
            <a:solidFill>
              <a:schemeClr val="dk1"/>
            </a:solidFill>
            <a:prstDash val="solid"/>
            <a:round/>
            <a:headEnd len="sm" w="sm" type="none"/>
            <a:tailEnd len="sm" w="sm" type="none"/>
          </a:ln>
        </p:spPr>
      </p:pic>
      <p:pic>
        <p:nvPicPr>
          <p:cNvPr id="124" name="Google Shape;124;p21"/>
          <p:cNvPicPr preferRelativeResize="0"/>
          <p:nvPr/>
        </p:nvPicPr>
        <p:blipFill>
          <a:blip r:embed="rId6">
            <a:alphaModFix/>
          </a:blip>
          <a:stretch>
            <a:fillRect/>
          </a:stretch>
        </p:blipFill>
        <p:spPr>
          <a:xfrm>
            <a:off x="6994700" y="1813500"/>
            <a:ext cx="1996900" cy="3177599"/>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125"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Exploratory Data Analysis (EDA)</a:t>
            </a:r>
            <a:endParaRPr/>
          </a:p>
        </p:txBody>
      </p:sp>
      <p:sp>
        <p:nvSpPr>
          <p:cNvPr id="130" name="Google Shape;130;p22"/>
          <p:cNvSpPr txBox="1"/>
          <p:nvPr/>
        </p:nvSpPr>
        <p:spPr>
          <a:xfrm>
            <a:off x="20725" y="502800"/>
            <a:ext cx="9144000" cy="61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VISUALIZATION</a:t>
            </a:r>
            <a:endParaRPr sz="1800">
              <a:solidFill>
                <a:schemeClr val="dk1"/>
              </a:solidFill>
            </a:endParaRPr>
          </a:p>
        </p:txBody>
      </p:sp>
      <p:sp>
        <p:nvSpPr>
          <p:cNvPr id="131" name="Google Shape;131;p22"/>
          <p:cNvSpPr txBox="1"/>
          <p:nvPr/>
        </p:nvSpPr>
        <p:spPr>
          <a:xfrm>
            <a:off x="20725" y="924875"/>
            <a:ext cx="3445500" cy="4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dk1"/>
                </a:solidFill>
              </a:rPr>
              <a:t>SCATTER PLOT</a:t>
            </a:r>
            <a:endParaRPr sz="1800" u="sng">
              <a:solidFill>
                <a:schemeClr val="dk1"/>
              </a:solidFill>
            </a:endParaRPr>
          </a:p>
        </p:txBody>
      </p:sp>
      <p:pic>
        <p:nvPicPr>
          <p:cNvPr id="132" name="Google Shape;132;p22"/>
          <p:cNvPicPr preferRelativeResize="0"/>
          <p:nvPr/>
        </p:nvPicPr>
        <p:blipFill>
          <a:blip r:embed="rId3">
            <a:alphaModFix/>
          </a:blip>
          <a:stretch>
            <a:fillRect/>
          </a:stretch>
        </p:blipFill>
        <p:spPr>
          <a:xfrm>
            <a:off x="222325" y="1767850"/>
            <a:ext cx="3592900" cy="3213450"/>
          </a:xfrm>
          <a:prstGeom prst="rect">
            <a:avLst/>
          </a:prstGeom>
          <a:noFill/>
          <a:ln cap="flat" cmpd="sng" w="9525">
            <a:solidFill>
              <a:schemeClr val="dk1"/>
            </a:solidFill>
            <a:prstDash val="solid"/>
            <a:round/>
            <a:headEnd len="sm" w="sm" type="none"/>
            <a:tailEnd len="sm" w="sm" type="none"/>
          </a:ln>
        </p:spPr>
      </p:pic>
      <p:pic>
        <p:nvPicPr>
          <p:cNvPr id="133" name="Google Shape;133;p22"/>
          <p:cNvPicPr preferRelativeResize="0"/>
          <p:nvPr/>
        </p:nvPicPr>
        <p:blipFill>
          <a:blip r:embed="rId4">
            <a:alphaModFix/>
          </a:blip>
          <a:stretch>
            <a:fillRect/>
          </a:stretch>
        </p:blipFill>
        <p:spPr>
          <a:xfrm>
            <a:off x="5026800" y="1767850"/>
            <a:ext cx="3696950" cy="3220675"/>
          </a:xfrm>
          <a:prstGeom prst="rect">
            <a:avLst/>
          </a:prstGeom>
          <a:noFill/>
          <a:ln cap="flat" cmpd="sng" w="9525">
            <a:solidFill>
              <a:schemeClr val="dk1"/>
            </a:solidFill>
            <a:prstDash val="solid"/>
            <a:round/>
            <a:headEnd len="sm" w="sm" type="none"/>
            <a:tailEnd len="sm" w="sm" type="none"/>
          </a:ln>
        </p:spPr>
      </p:pic>
      <p:sp>
        <p:nvSpPr>
          <p:cNvPr id="134" name="Google Shape;134;p22"/>
          <p:cNvSpPr txBox="1"/>
          <p:nvPr/>
        </p:nvSpPr>
        <p:spPr>
          <a:xfrm>
            <a:off x="167950" y="1307700"/>
            <a:ext cx="8976300" cy="28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Identifying countries with unusual data spikes in specific year.</a:t>
            </a:r>
            <a:endParaRPr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125"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ML MODELING </a:t>
            </a:r>
            <a:r>
              <a:rPr lang="en"/>
              <a:t>COMPARISON</a:t>
            </a:r>
            <a:endParaRPr/>
          </a:p>
        </p:txBody>
      </p:sp>
      <p:sp>
        <p:nvSpPr>
          <p:cNvPr id="140" name="Google Shape;140;p23"/>
          <p:cNvSpPr txBox="1"/>
          <p:nvPr/>
        </p:nvSpPr>
        <p:spPr>
          <a:xfrm>
            <a:off x="20725" y="502800"/>
            <a:ext cx="9144000" cy="6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800">
              <a:solidFill>
                <a:schemeClr val="dk1"/>
              </a:solidFill>
            </a:endParaRPr>
          </a:p>
        </p:txBody>
      </p:sp>
      <p:sp>
        <p:nvSpPr>
          <p:cNvPr id="141" name="Google Shape;141;p23"/>
          <p:cNvSpPr txBox="1"/>
          <p:nvPr/>
        </p:nvSpPr>
        <p:spPr>
          <a:xfrm>
            <a:off x="118875" y="1553075"/>
            <a:ext cx="4368000" cy="119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142" name="Google Shape;142;p23"/>
          <p:cNvPicPr preferRelativeResize="0"/>
          <p:nvPr/>
        </p:nvPicPr>
        <p:blipFill>
          <a:blip r:embed="rId3">
            <a:alphaModFix/>
          </a:blip>
          <a:stretch>
            <a:fillRect/>
          </a:stretch>
        </p:blipFill>
        <p:spPr>
          <a:xfrm>
            <a:off x="295575" y="1121100"/>
            <a:ext cx="8480876" cy="3857699"/>
          </a:xfrm>
          <a:prstGeom prst="rect">
            <a:avLst/>
          </a:prstGeom>
          <a:noFill/>
          <a:ln>
            <a:noFill/>
          </a:ln>
        </p:spPr>
      </p:pic>
      <p:sp>
        <p:nvSpPr>
          <p:cNvPr id="143" name="Google Shape;143;p23"/>
          <p:cNvSpPr txBox="1"/>
          <p:nvPr/>
        </p:nvSpPr>
        <p:spPr>
          <a:xfrm>
            <a:off x="20725" y="572700"/>
            <a:ext cx="9144000" cy="35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How do the purple dotted lines (prediction intervals) help us understand the forecast better, and what do they tell us about how confident the model is in its predictions?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type="title"/>
          </p:nvPr>
        </p:nvSpPr>
        <p:spPr>
          <a:xfrm>
            <a:off x="0" y="5240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THANK YOU</a:t>
            </a:r>
            <a:endParaRPr/>
          </a:p>
        </p:txBody>
      </p:sp>
      <p:sp>
        <p:nvSpPr>
          <p:cNvPr id="149" name="Google Shape;149;p24"/>
          <p:cNvSpPr txBox="1"/>
          <p:nvPr>
            <p:ph idx="1" type="body"/>
          </p:nvPr>
        </p:nvSpPr>
        <p:spPr>
          <a:xfrm>
            <a:off x="311700" y="2132225"/>
            <a:ext cx="8520600" cy="11091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5500">
                <a:solidFill>
                  <a:schemeClr val="dk1"/>
                </a:solidFill>
              </a:rPr>
              <a:t>QUESTIONS</a:t>
            </a:r>
            <a:r>
              <a:rPr lang="en" sz="5500">
                <a:solidFill>
                  <a:schemeClr val="dk1"/>
                </a:solidFill>
              </a:rPr>
              <a:t>? </a:t>
            </a:r>
            <a:endParaRPr sz="55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